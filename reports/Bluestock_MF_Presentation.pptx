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4E79"/>
                </a:solidFill>
                <a:latin typeface="Arial"/>
              </a:rPr>
              <a:t>Industry AUM Growth (Lakh Crore)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AUM (Lakh Crore)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4E7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40.5</c:v>
                </c:pt>
                <c:pt idx="2">
                  <c:v>53.2</c:v>
                </c:pt>
                <c:pt idx="3">
                  <c:v>62.74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C9-4FEF-A449-F53845F4A3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F4E79"/>
                </a:solidFill>
                <a:latin typeface="Arial"/>
              </a:rPr>
              <a:t>Monthly SIP Inflows (2022–2025)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Inflows (Crore)</c:v>
                </c:pt>
              </c:strCache>
            </c:strRef>
          </c:tx>
          <c:spPr>
            <a:ln w="25400" cap="flat">
              <a:solidFill>
                <a:srgbClr val="F0A5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0A500"/>
              </a:solidFill>
              <a:ln w="9525" cap="flat">
                <a:solidFill>
                  <a:srgbClr val="F0A50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 22</c:v>
                </c:pt>
                <c:pt idx="1">
                  <c:v>Jul 22</c:v>
                </c:pt>
                <c:pt idx="2">
                  <c:v>Jan 23</c:v>
                </c:pt>
                <c:pt idx="3">
                  <c:v>Jul 23</c:v>
                </c:pt>
                <c:pt idx="4">
                  <c:v>Jan 24</c:v>
                </c:pt>
                <c:pt idx="5">
                  <c:v>Jul 24</c:v>
                </c:pt>
                <c:pt idx="6">
                  <c:v>Jan 25</c:v>
                </c:pt>
                <c:pt idx="7">
                  <c:v>Jul 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11000</c:v>
                </c:pt>
                <c:pt idx="1">
                  <c:v>12200</c:v>
                </c:pt>
                <c:pt idx="2">
                  <c:v>13600</c:v>
                </c:pt>
                <c:pt idx="3">
                  <c:v>15300</c:v>
                </c:pt>
                <c:pt idx="4">
                  <c:v>17500</c:v>
                </c:pt>
                <c:pt idx="5">
                  <c:v>21000</c:v>
                </c:pt>
                <c:pt idx="6">
                  <c:v>25000</c:v>
                </c:pt>
                <c:pt idx="7">
                  <c:v>30000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3F6-4356-AC5C-921F41CA84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F4E79"/>
                </a:solidFill>
                <a:latin typeface="Arial"/>
              </a:rPr>
              <a:t>Transaction Type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32D-48AA-96A8-B0AA3CE5A17B}"/>
              </c:ext>
            </c:extLst>
          </c:dPt>
          <c:dPt>
            <c:idx val="1"/>
            <c:bubble3D val="0"/>
            <c:spPr>
              <a:solidFill>
                <a:srgbClr val="F0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2D-48AA-96A8-B0AA3CE5A17B}"/>
              </c:ext>
            </c:extLst>
          </c:dPt>
          <c:dPt>
            <c:idx val="2"/>
            <c:bubble3D val="0"/>
            <c:spPr>
              <a:solidFill>
                <a:srgbClr val="A8C5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2D-48AA-96A8-B0AA3CE5A17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32D-48AA-96A8-B0AA3CE5A17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32D-48AA-96A8-B0AA3CE5A17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32D-48AA-96A8-B0AA3CE5A17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SIP (59.43%)</c:v>
                </c:pt>
                <c:pt idx="1">
                  <c:v>Lumpsum (34.45%)</c:v>
                </c:pt>
                <c:pt idx="2">
                  <c:v>Redemption (6.12%)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59.43</c:v>
                </c:pt>
                <c:pt idx="1">
                  <c:v>34.450000000000003</c:v>
                </c:pt>
                <c:pt idx="2">
                  <c:v>6.12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2D-48AA-96A8-B0AA3CE5A1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4E79"/>
                </a:solidFill>
                <a:latin typeface="Arial"/>
              </a:rPr>
              <a:t>Top States by Investment Volume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(₹M)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Rajasthan</c:v>
                </c:pt>
                <c:pt idx="1">
                  <c:v>Punjab</c:v>
                </c:pt>
                <c:pt idx="2">
                  <c:v>Maharashtra</c:v>
                </c:pt>
                <c:pt idx="3">
                  <c:v>Gujarat</c:v>
                </c:pt>
                <c:pt idx="4">
                  <c:v>West Bengal</c:v>
                </c:pt>
                <c:pt idx="5">
                  <c:v>Delhi</c:v>
                </c:pt>
                <c:pt idx="6">
                  <c:v>Telangana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</c:v>
                </c:pt>
                <c:pt idx="1">
                  <c:v>60</c:v>
                </c:pt>
                <c:pt idx="2">
                  <c:v>70</c:v>
                </c:pt>
                <c:pt idx="3">
                  <c:v>78</c:v>
                </c:pt>
                <c:pt idx="4">
                  <c:v>82</c:v>
                </c:pt>
                <c:pt idx="5">
                  <c:v>90</c:v>
                </c:pt>
                <c:pt idx="6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38-4C50-8364-8493ECAD7E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4E79"/>
                </a:solidFill>
                <a:latin typeface="Arial"/>
              </a:rPr>
              <a:t>Top 5 Funds — 3-Year CAGR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3Y CAGR (%)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4E7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148567</c:v>
                </c:pt>
                <c:pt idx="1">
                  <c:v>119598</c:v>
                </c:pt>
                <c:pt idx="2">
                  <c:v>120505</c:v>
                </c:pt>
                <c:pt idx="3">
                  <c:v>100033</c:v>
                </c:pt>
                <c:pt idx="4">
                  <c:v>119094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31.28</c:v>
                </c:pt>
                <c:pt idx="1">
                  <c:v>27.81</c:v>
                </c:pt>
                <c:pt idx="2">
                  <c:v>30.21</c:v>
                </c:pt>
                <c:pt idx="3">
                  <c:v>33.630000000000003</c:v>
                </c:pt>
                <c:pt idx="4">
                  <c:v>36.07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B6-4F22-8B20-1ECEE1E268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867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 Analytics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Pipeline, EDA, Performance Metrics &amp; Power BI Dashboard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91440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66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Mauli Kukreti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 (2023–2027)  | Graphic Era University, Dehradun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Capstone Internship Project  |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0F7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Data Fragmentation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 data is spread across 10+ disconnected datasets — NAV, AUM, SIP, transactions, holdings — with no unified analytics layer.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FF8ED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 Lack of Risk Visibility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691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and fund managers lack standardized risk metrics (VaR, CVaR, Drawdown) computed from raw NAV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0F7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No Investor Insights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291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32,000+ investor transactions lack structured demographic and behavioral analysis — age groups, geographies, SIP continuity.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FF8ED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No Unified 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291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data, fund performance, and investor analytics are not available in one interactive visual interface.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Build a complete analytics pipeline — ETL → SQLite → EDA → Metrics →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5F9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12801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71907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ingestion, validation, cleaning &amp; transformation of 10 raw CSV datasets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5F9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28016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984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58768" y="12801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171907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normalized relational schema and load all cleaned data via Python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5F9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28016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2984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84848" y="12801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171907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NAV trends, AUM growth, SIP inflows, demographics &amp; sector allocations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5F9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7180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900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29718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41071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CAGR, Sharpe, Sortino, Alpha, Beta, Drawdown &amp; Tracking Error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28803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5F9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297180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9900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58768" y="29718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01568" y="341071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VaR, CVaR, Rolling Sharpe, Cohort Analysis, SIP Continuity, Recommender, HHI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28803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5F9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97180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9900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4848" y="29718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27648" y="341071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4-page interactive dashboard for industry, performance &amp; investor analytics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Python · Pandas · NumPy · Matplotlib · Seaborn · Plotly · SQLite · Power BI · Git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79476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 Master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schemes across 10 fund houses with full metadata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 History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NAV values from January 2022 to early 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~46,000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AUM by Fund House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AUM per AMC (2022–2025)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SIP Inflows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Industry-level SIP trend data over 48 months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Inflows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inflows broken down by fund category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 Folio Count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total and category-wise folio counts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Scheme Performance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Pre-computed performance metrics for 40 schemes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Investor Transactions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investor transaction log across 32,778 records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 Holdings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Equity sector weights and stock compositions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 Indices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Nifty 50 / Nifty100 closing values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~1,000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Architecture &amp; ETL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E8F4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7472" y="1600200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data_ingestion.py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CSV Load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0" y="1920240"/>
            <a:ext cx="411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8105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11430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EAF7E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39112" y="1600200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amfi_validation.py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AMFI Code Check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40/40 matched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20440" y="1920240"/>
            <a:ext cx="411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18105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11430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FF3E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30752" y="1600200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data_cleaning.py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parsing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casting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12080" y="1920240"/>
            <a:ext cx="411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0408" y="18105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49240" y="11430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3E5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Load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22392" y="1600200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load_to_sqlite.py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tables loaded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defined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03720" y="1920240"/>
            <a:ext cx="411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18105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11430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E8F4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14032" y="1600200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Notebooks: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→ Perf →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Power BI Dashboard  →  4-page Interactive Report  |  PDF Export  |  GitHub Repository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406908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0F7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87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65760" y="4453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148840" y="406908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0F7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48840" y="4087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148840" y="4453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931920" y="406908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0F7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4087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46K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931920" y="4453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Records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15000" y="406908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0F7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4087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32K+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715000" y="4453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98080" y="406908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0F7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0" y="4087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498080" y="4453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Highlights — Industry &amp; Market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109728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 SBI MF leads industry AUM. All 10 fund houses grew YoY.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SIP inflows consistently rising — ₹11,000 Cr (Jan 22) → ₹30,000+ Cr (2025)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Highlights — Investor &amp; Portfolio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1097280"/>
          <a:ext cx="3200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3566160" y="109728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26–35 age group: highest avg SIP amount  |  T30 cities dominate AUM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🏙️  Top states: Telangana &gt; Delhi &gt; West Bengal  |  Financial Services &amp; Tech = largest sector weights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Analytics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4297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4114800" cy="22555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AMFI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Sortino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DD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Err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120505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~-20%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119094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~-18%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119598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~-22%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148567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~-15%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754880" y="3657600"/>
            <a:ext cx="4114800" cy="777240"/>
          </a:xfrm>
          <a:prstGeom prst="roundRect">
            <a:avLst>
              <a:gd name="adj" fmla="val 8235"/>
            </a:avLst>
          </a:prstGeom>
          <a:solidFill>
            <a:srgbClr val="EEF5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846320" y="37033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= 30% CAGR + 25% Sharpe + 20% Alpha + 15% Expense Rank + 10% Drawdown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= 6.5% p.a.  |  Daily Returns: mean 0.063%, σ = 1.03%  |  NIFTY100 used as benchmark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0F7FF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1887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Historical VaR (95%)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4048" y="155448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expected daily loss in 19 out of 20 days using empirical return distribution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5FFF5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1887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CVaR / Expected Shortfall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55848" y="155448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loss in the worst 5% scenarios — captures tail risk beyond VaR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0F7FF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1887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Rolling 90-Day Sharpe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27648" y="155448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Time-varying risk-adjusted performance to identify improving or deteriorating funds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5FFF5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974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Investor Cohort Analysis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4048" y="306324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investors by entry year; 2024 cohort identified as highest-volume contributors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2606040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0F7FF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26974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SIP Continuity Analysis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55848" y="306324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investors at risk of SIP discontinuation for proactive retention campaigns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606040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5FFF5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26974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Fund Recommender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27648" y="306324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engine mapping risk tolerance + horizon + category to eligible fund schemes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8641080" cy="685800"/>
          </a:xfrm>
          <a:prstGeom prst="roundRect">
            <a:avLst>
              <a:gd name="adj" fmla="val 9333"/>
            </a:avLst>
          </a:prstGeom>
          <a:solidFill>
            <a:srgbClr val="F0F7FF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206240"/>
            <a:ext cx="8421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HHI Sector Concentration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01568" y="425196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HHI computed per fund to quantify portfolio concentration risk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4 Pages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4297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dashboard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53312"/>
            <a:ext cx="42062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1097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1: Industry Overview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297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/home/claude/dashboard_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353312"/>
            <a:ext cx="4206240" cy="1463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36592" y="1097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2: Fund Performance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182880" y="2971800"/>
            <a:ext cx="4297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2" descr="/home/claude/dashboard_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273552"/>
            <a:ext cx="4206240" cy="1463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6032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3: Investor Analytics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663440" y="2971800"/>
            <a:ext cx="4297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3" descr="/home/claude/dashboard_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273552"/>
            <a:ext cx="4206240" cy="1463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36592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4: SIP &amp; Market Trends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097280"/>
          </a:xfrm>
          <a:prstGeom prst="roundRect">
            <a:avLst>
              <a:gd name="adj" fmla="val 5833"/>
            </a:avLst>
          </a:prstGeom>
          <a:solidFill>
            <a:srgbClr val="F0F7FF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521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Industry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9047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AUM grew from ~₹30 lakh crore (2023) to ₹62.74 lakh crore (2025) — over 2× growth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SBI MF leads AUM; all 10 fund houses showed YoY growth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94767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SIP inflows grew consistently, reaching ~₹31,000 crore/month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359152"/>
            <a:ext cx="8595360" cy="1097280"/>
          </a:xfrm>
          <a:prstGeom prst="roundRect">
            <a:avLst>
              <a:gd name="adj" fmla="val 5833"/>
            </a:avLst>
          </a:prstGeom>
          <a:solidFill>
            <a:srgbClr val="FFF8ED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4140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75234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 fund (119094): 36.07% 3Y CAGR | Best Sharpe: 148567 at 1.45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98094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Most funds have positive return correlation — limited diversification benefit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20954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funds show 0.19–0.28 annualized tracking error vs NIFTY100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21024"/>
            <a:ext cx="8595360" cy="1097280"/>
          </a:xfrm>
          <a:prstGeom prst="roundRect">
            <a:avLst>
              <a:gd name="adj" fmla="val 5833"/>
            </a:avLst>
          </a:prstGeom>
          <a:solidFill>
            <a:srgbClr val="F0FFF4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75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Investors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01421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SIP = 59.43% of all transactions | 26–35 age group = highest SIP amount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24281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Telangana, Delhi, West Bengal = top states by investment volume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47141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T30 cities dominate AUM; B30 represents significant untapped potential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0071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Capstone Internship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272297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 Mauli Kukreti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828800" y="3130853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Program:  B.Tech CSE (2023–2027)  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828800" y="349481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University:  Graphic Era Deemed to be University, Dehradun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934307" y="3836809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934307" y="392464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 Python · Pandas · SQLite · Power BI · Git · Seaborn · Plotly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1045</Words>
  <Application>Microsoft Office PowerPoint</Application>
  <PresentationFormat>On-screen Show (16:9)</PresentationFormat>
  <Paragraphs>219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Capstone</dc:title>
  <dc:subject>PptxGenJS Presentation</dc:subject>
  <dc:creator>Mauli Kukreti</dc:creator>
  <cp:lastModifiedBy>Mauli Kukreti</cp:lastModifiedBy>
  <cp:revision>2</cp:revision>
  <dcterms:created xsi:type="dcterms:W3CDTF">2026-06-11T06:17:38Z</dcterms:created>
  <dcterms:modified xsi:type="dcterms:W3CDTF">2026-06-11T06:25:09Z</dcterms:modified>
</cp:coreProperties>
</file>